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87425"/>
            <a:ext cx="7772400" cy="1470025"/>
          </a:xfrm>
        </p:spPr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rPr dirty="0"/>
              <a:t>Fraud Detection using Big Data Analytics in Banking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33350" y="2633471"/>
            <a:ext cx="9410700" cy="4371975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Machine Learning Approach with Random Forest Classifier</a:t>
            </a:r>
          </a:p>
          <a:p>
            <a:endParaRPr dirty="0"/>
          </a:p>
          <a:p>
            <a:r>
              <a:rPr dirty="0"/>
              <a:t>Submitted by:</a:t>
            </a:r>
          </a:p>
          <a:p>
            <a:r>
              <a:rPr dirty="0"/>
              <a:t>2310080023 : N. Gowtham</a:t>
            </a:r>
          </a:p>
          <a:p>
            <a:r>
              <a:rPr dirty="0"/>
              <a:t>2310080029 : M. Snighda Sharma</a:t>
            </a:r>
          </a:p>
          <a:p>
            <a:r>
              <a:rPr dirty="0"/>
              <a:t>2310080037 : I Sriram</a:t>
            </a:r>
          </a:p>
          <a:p>
            <a:r>
              <a:rPr dirty="0"/>
              <a:t>2310080038 : P. </a:t>
            </a:r>
            <a:r>
              <a:rPr dirty="0" err="1"/>
              <a:t>Manmith</a:t>
            </a:r>
            <a:r>
              <a:rPr dirty="0"/>
              <a:t> Reddy</a:t>
            </a:r>
          </a:p>
          <a:p>
            <a:endParaRPr dirty="0"/>
          </a:p>
          <a:p>
            <a:r>
              <a:rPr dirty="0"/>
              <a:t>Date: November 3,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Introduction &amp; Problem Statement</a:t>
            </a:r>
          </a:p>
          <a:p>
            <a:pPr>
              <a:defRPr sz="1800"/>
            </a:pPr>
            <a:r>
              <a:t>Literature Review</a:t>
            </a:r>
          </a:p>
          <a:p>
            <a:pPr>
              <a:defRPr sz="1800"/>
            </a:pPr>
            <a:r>
              <a:t>System Architecture &amp; Methodology</a:t>
            </a:r>
          </a:p>
          <a:p>
            <a:pPr>
              <a:defRPr sz="1800"/>
            </a:pPr>
            <a:r>
              <a:t>Dataset &amp; Preprocessing</a:t>
            </a:r>
          </a:p>
          <a:p>
            <a:pPr>
              <a:defRPr sz="1800"/>
            </a:pPr>
            <a:r>
              <a:t>Model Architecture &amp; Training</a:t>
            </a:r>
          </a:p>
          <a:p>
            <a:pPr>
              <a:defRPr sz="1800"/>
            </a:pPr>
            <a:r>
              <a:t>Experimental Results</a:t>
            </a:r>
          </a:p>
          <a:p>
            <a:pPr>
              <a:defRPr sz="1800"/>
            </a:pPr>
            <a:r>
              <a:t>Performance Analysis</a:t>
            </a:r>
          </a:p>
          <a:p>
            <a:pPr>
              <a:defRPr sz="1800"/>
            </a:pPr>
            <a:r>
              <a:t>Web Application Demo</a:t>
            </a:r>
          </a:p>
          <a:p>
            <a:pPr>
              <a:defRPr sz="1800"/>
            </a:pPr>
            <a:r>
              <a:t>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Financial fraud costs consumers $5.8 billion annually (FTC, 2021)</a:t>
            </a:r>
          </a:p>
          <a:p>
            <a:pPr>
              <a:defRPr sz="1800"/>
            </a:pPr>
            <a:r>
              <a:t>Traditional rule-based systems struggle with evolving fraud tactics</a:t>
            </a:r>
          </a:p>
          <a:p>
            <a:pPr>
              <a:defRPr sz="1800"/>
            </a:pPr>
            <a:r>
              <a:t>Machine learning offers powerful pattern recognition capabilities</a:t>
            </a:r>
          </a:p>
          <a:p>
            <a:pPr>
              <a:defRPr sz="1800"/>
            </a:pPr>
            <a:r>
              <a:t>Challenge: Highly imbalanced datasets (&lt;2% fraud transactions)</a:t>
            </a:r>
          </a:p>
          <a:p>
            <a:pPr>
              <a:defRPr sz="1800"/>
            </a:pPr>
            <a:r>
              <a:t>Goal: Real-time fraud detection with minimal false positives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Detect fraudulent banking transactions in real-time</a:t>
            </a:r>
          </a:p>
          <a:p>
            <a:pPr>
              <a:defRPr sz="1800"/>
            </a:pPr>
            <a:r>
              <a:t>Handle severe class imbalance (85% normal, 15% fraud)</a:t>
            </a:r>
          </a:p>
          <a:p>
            <a:pPr>
              <a:defRPr sz="1800"/>
            </a:pPr>
            <a:r>
              <a:t>Minimize false positives to avoid customer inconvenience</a:t>
            </a:r>
          </a:p>
          <a:p>
            <a:pPr>
              <a:defRPr sz="1800"/>
            </a:pPr>
            <a:r>
              <a:t>Achieve zero false negatives for maximum protection</a:t>
            </a:r>
          </a:p>
          <a:p>
            <a:pPr>
              <a:defRPr sz="1800"/>
            </a:pPr>
            <a:r>
              <a:t>Provide explainable predictions for fraud analysts</a:t>
            </a:r>
          </a:p>
          <a:p>
            <a:pPr>
              <a:defRPr sz="1800"/>
            </a:pPr>
            <a:r>
              <a:t>Process 400-600 transactions per second for scalability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000"/>
              </a:spcAft>
              <a:defRPr sz="1600"/>
            </a:pPr>
            <a:r>
              <a:rPr dirty="0"/>
              <a:t>Traditional Approaches:</a:t>
            </a:r>
          </a:p>
          <a:p>
            <a:pPr>
              <a:spcAft>
                <a:spcPts val="1000"/>
              </a:spcAft>
              <a:defRPr sz="1600"/>
            </a:pPr>
            <a:r>
              <a:rPr dirty="0"/>
              <a:t>• Rule-based systems (Phua et al., 2010)</a:t>
            </a:r>
          </a:p>
          <a:p>
            <a:pPr>
              <a:spcAft>
                <a:spcPts val="1000"/>
              </a:spcAft>
              <a:defRPr sz="1600"/>
            </a:pPr>
            <a:r>
              <a:rPr dirty="0"/>
              <a:t>• Data mining techniques (Ngai et al., 2011)</a:t>
            </a:r>
          </a:p>
          <a:p>
            <a:pPr>
              <a:spcAft>
                <a:spcPts val="1000"/>
              </a:spcAft>
              <a:defRPr sz="1600"/>
            </a:pPr>
            <a:endParaRPr dirty="0"/>
          </a:p>
          <a:p>
            <a:pPr>
              <a:spcAft>
                <a:spcPts val="1000"/>
              </a:spcAft>
              <a:defRPr sz="1600"/>
            </a:pPr>
            <a:r>
              <a:rPr dirty="0"/>
              <a:t>Machine Learning:</a:t>
            </a:r>
          </a:p>
          <a:p>
            <a:pPr>
              <a:spcAft>
                <a:spcPts val="1000"/>
              </a:spcAft>
              <a:defRPr sz="1600"/>
            </a:pPr>
            <a:r>
              <a:rPr dirty="0"/>
              <a:t>• Ensemble methods (Gadi et al., 2008)</a:t>
            </a:r>
          </a:p>
          <a:p>
            <a:pPr>
              <a:spcAft>
                <a:spcPts val="1000"/>
              </a:spcAft>
              <a:defRPr sz="1600"/>
            </a:pPr>
            <a:r>
              <a:rPr dirty="0"/>
              <a:t>• Cost-sensitive learning (Sahin &amp; Duman, 2011)</a:t>
            </a:r>
          </a:p>
          <a:p>
            <a:pPr>
              <a:spcAft>
                <a:spcPts val="1000"/>
              </a:spcAft>
              <a:defRPr sz="1600"/>
            </a:pPr>
            <a:endParaRPr dirty="0"/>
          </a:p>
          <a:p>
            <a:pPr>
              <a:spcAft>
                <a:spcPts val="1000"/>
              </a:spcAft>
              <a:defRPr sz="1600"/>
            </a:pPr>
            <a:r>
              <a:rPr dirty="0"/>
              <a:t>Imbalanced Data:</a:t>
            </a:r>
          </a:p>
          <a:p>
            <a:pPr>
              <a:spcAft>
                <a:spcPts val="1000"/>
              </a:spcAft>
              <a:defRPr sz="1600"/>
            </a:pPr>
            <a:r>
              <a:rPr dirty="0"/>
              <a:t>• SMOTE technique (Chawla et al., 2002)</a:t>
            </a:r>
          </a:p>
          <a:p>
            <a:pPr>
              <a:spcAft>
                <a:spcPts val="1000"/>
              </a:spcAft>
              <a:defRPr sz="1600"/>
            </a:pPr>
            <a:r>
              <a:rPr dirty="0"/>
              <a:t>• </a:t>
            </a:r>
            <a:r>
              <a:rPr dirty="0" err="1"/>
              <a:t>Undersampling</a:t>
            </a:r>
            <a:r>
              <a:rPr dirty="0"/>
              <a:t> (Dal </a:t>
            </a:r>
            <a:r>
              <a:rPr dirty="0" err="1"/>
              <a:t>Pozzolo</a:t>
            </a:r>
            <a:r>
              <a:rPr dirty="0"/>
              <a:t> et al., 2015)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000"/>
              </a:spcAft>
              <a:defRPr sz="1600"/>
            </a:pPr>
            <a:r>
              <a:rPr dirty="0"/>
              <a:t>Deep Learning:</a:t>
            </a:r>
          </a:p>
          <a:p>
            <a:pPr>
              <a:spcAft>
                <a:spcPts val="1000"/>
              </a:spcAft>
              <a:defRPr sz="1600"/>
            </a:pPr>
            <a:r>
              <a:rPr dirty="0"/>
              <a:t>• Autoencoders (Wang et al., 2018)</a:t>
            </a:r>
          </a:p>
          <a:p>
            <a:pPr>
              <a:spcAft>
                <a:spcPts val="1000"/>
              </a:spcAft>
              <a:defRPr sz="1600"/>
            </a:pPr>
            <a:r>
              <a:rPr dirty="0"/>
              <a:t>• Graph-based approaches (</a:t>
            </a:r>
            <a:r>
              <a:rPr dirty="0" err="1"/>
              <a:t>Pourhabibi</a:t>
            </a:r>
            <a:r>
              <a:rPr dirty="0"/>
              <a:t> et al., 2020)</a:t>
            </a:r>
          </a:p>
          <a:p>
            <a:pPr>
              <a:spcAft>
                <a:spcPts val="1000"/>
              </a:spcAft>
              <a:defRPr sz="1600"/>
            </a:pPr>
            <a:endParaRPr dirty="0"/>
          </a:p>
          <a:p>
            <a:pPr>
              <a:spcAft>
                <a:spcPts val="1000"/>
              </a:spcAft>
              <a:defRPr sz="1600"/>
            </a:pPr>
            <a:r>
              <a:rPr dirty="0"/>
              <a:t>Explainable AI:</a:t>
            </a:r>
          </a:p>
          <a:p>
            <a:pPr>
              <a:spcAft>
                <a:spcPts val="1000"/>
              </a:spcAft>
              <a:defRPr sz="1600"/>
            </a:pPr>
            <a:r>
              <a:rPr dirty="0"/>
              <a:t>• SHAP values (Lundberg &amp; Lee, 2017)</a:t>
            </a:r>
          </a:p>
          <a:p>
            <a:pPr>
              <a:spcAft>
                <a:spcPts val="1000"/>
              </a:spcAft>
              <a:defRPr sz="1600"/>
            </a:pPr>
            <a:r>
              <a:rPr dirty="0"/>
              <a:t>• LIME (Ribeiro et al., 2016)</a:t>
            </a:r>
          </a:p>
          <a:p>
            <a:pPr>
              <a:spcAft>
                <a:spcPts val="1000"/>
              </a:spcAft>
              <a:defRPr sz="1600"/>
            </a:pPr>
            <a:endParaRPr dirty="0"/>
          </a:p>
          <a:p>
            <a:pPr>
              <a:spcAft>
                <a:spcPts val="1000"/>
              </a:spcAft>
              <a:defRPr sz="1600"/>
            </a:pPr>
            <a:r>
              <a:rPr dirty="0"/>
              <a:t>Research Gap:</a:t>
            </a:r>
          </a:p>
          <a:p>
            <a:pPr>
              <a:spcAft>
                <a:spcPts val="1000"/>
              </a:spcAft>
              <a:defRPr sz="1600"/>
            </a:pPr>
            <a:r>
              <a:rPr dirty="0"/>
              <a:t>• Lack of production-ready systems</a:t>
            </a:r>
          </a:p>
          <a:p>
            <a:pPr>
              <a:spcAft>
                <a:spcPts val="1000"/>
              </a:spcAft>
              <a:defRPr sz="1600"/>
            </a:pPr>
            <a:r>
              <a:rPr dirty="0"/>
              <a:t>• Limited user-friendly interfaces</a:t>
            </a:r>
          </a:p>
          <a:p>
            <a:pPr>
              <a:spcAft>
                <a:spcPts val="1000"/>
              </a:spcAft>
              <a:defRPr sz="1600"/>
            </a:pPr>
            <a:r>
              <a:rPr dirty="0"/>
              <a:t>• Missing real-time capabilities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Modular Design with 5 Components:</a:t>
            </a:r>
          </a:p>
          <a:p>
            <a:pPr>
              <a:defRPr sz="1800"/>
            </a:pPr>
            <a:r>
              <a:t>1. Data Preprocessing - Missing value handling, scaling, alignment</a:t>
            </a:r>
          </a:p>
          <a:p>
            <a:pPr>
              <a:defRPr sz="1800"/>
            </a:pPr>
            <a:r>
              <a:t>2. Feature Engineering - 29 features (Amount + V1-V28)</a:t>
            </a:r>
          </a:p>
          <a:p>
            <a:pPr>
              <a:defRPr sz="1800"/>
            </a:pPr>
            <a:r>
              <a:t>3. Model Training - RandomForest with 300 trees</a:t>
            </a:r>
          </a:p>
          <a:p>
            <a:pPr>
              <a:defRPr sz="1800"/>
            </a:pPr>
            <a:r>
              <a:t>4. Prediction Pipeline - Real-time fraud detection</a:t>
            </a:r>
          </a:p>
          <a:p>
            <a:pPr>
              <a:defRPr sz="1800"/>
            </a:pPr>
            <a:r>
              <a:t>5. Web Interface - Flask-based UI with visualizations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Training Workflow</a:t>
            </a:r>
          </a:p>
        </p:txBody>
      </p:sp>
      <p:pic>
        <p:nvPicPr>
          <p:cNvPr id="4" name="Picture 3" descr="figure_2_training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2073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End-to-end training process from data loading to model 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Synthetic Dataset: 5,000 transactions (15% fraud ratio)</a:t>
            </a:r>
          </a:p>
          <a:p>
            <a:pPr>
              <a:defRPr sz="1800"/>
            </a:pPr>
            <a:r>
              <a:t>Training Set: 4,000 transactions (80%)</a:t>
            </a:r>
          </a:p>
          <a:p>
            <a:pPr>
              <a:defRPr sz="1800"/>
            </a:pPr>
            <a:r>
              <a:t>Test Set: 1,000 transactions (20%)</a:t>
            </a:r>
          </a:p>
          <a:p>
            <a:pPr>
              <a:defRPr sz="1800"/>
            </a:pPr>
            <a:r>
              <a:t>Validation Set: 200 transactions (20% fraud)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Features: 29 total</a:t>
            </a:r>
          </a:p>
          <a:p>
            <a:pPr>
              <a:defRPr sz="1800"/>
            </a:pPr>
            <a:r>
              <a:t>• Amount: Transaction value in dollars</a:t>
            </a:r>
          </a:p>
          <a:p>
            <a:pPr>
              <a:defRPr sz="1800"/>
            </a:pPr>
            <a:r>
              <a:t>• V1-V28: PCA-transformed anonymized features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Transaction Amount Distribution</a:t>
            </a:r>
          </a:p>
        </p:txBody>
      </p:sp>
      <p:pic>
        <p:nvPicPr>
          <p:cNvPr id="4" name="Picture 3" descr="figure_3_amou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36226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Clear separation between normal and fraudulent transaction amounts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RandomForestClassifier Configuration:</a:t>
            </a:r>
          </a:p>
          <a:p>
            <a:pPr>
              <a:defRPr sz="1800"/>
            </a:pPr>
            <a:r>
              <a:t>• n_estimators: 300 trees (increased from 100)</a:t>
            </a:r>
          </a:p>
          <a:p>
            <a:pPr>
              <a:defRPr sz="1800"/>
            </a:pPr>
            <a:r>
              <a:t>• max_depth: 10 (prevents overfitting)</a:t>
            </a:r>
          </a:p>
          <a:p>
            <a:pPr>
              <a:defRPr sz="1800"/>
            </a:pPr>
            <a:r>
              <a:t>• min_samples_split: 10</a:t>
            </a:r>
          </a:p>
          <a:p>
            <a:pPr>
              <a:defRPr sz="1800"/>
            </a:pPr>
            <a:r>
              <a:t>• min_samples_leaf: 4</a:t>
            </a:r>
          </a:p>
          <a:p>
            <a:pPr>
              <a:defRPr sz="1800"/>
            </a:pPr>
            <a:r>
              <a:t>• class_weight: 'balanced' (handles imbalance)</a:t>
            </a:r>
          </a:p>
          <a:p>
            <a:pPr>
              <a:defRPr sz="1800"/>
            </a:pPr>
            <a:r>
              <a:t>• random_state: 42 (reproducibility)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Preprocessing: StandardScaler (μ=0, σ=1)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Feature Importance Analysis</a:t>
            </a:r>
          </a:p>
        </p:txBody>
      </p:sp>
      <p:pic>
        <p:nvPicPr>
          <p:cNvPr id="4" name="Picture 3" descr="figure_7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8781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Amount contributes 30.69% - the most significant predictor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Model Performance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0.9654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0.9802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Random Forest (100)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Random Forest (300)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0.9998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ROC Curve - Perfect Classification</a:t>
            </a:r>
          </a:p>
        </p:txBody>
      </p:sp>
      <p:pic>
        <p:nvPicPr>
          <p:cNvPr id="4" name="Picture 3" descr="figure_5_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8363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ROC-AUC = 1.0000 indicates perfect classification performance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Probability Distribution Analysis</a:t>
            </a:r>
          </a:p>
        </p:txBody>
      </p:sp>
      <p:pic>
        <p:nvPicPr>
          <p:cNvPr id="4" name="Picture 3" descr="figure_4_probabilit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36206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Clear separation with optimal threshold at 0.650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Precision-Recall Curve</a:t>
            </a:r>
          </a:p>
        </p:txBody>
      </p:sp>
      <p:pic>
        <p:nvPicPr>
          <p:cNvPr id="4" name="Picture 3" descr="figure_6_precision_recall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8427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Perfect precision and recall across all threshold values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Perfect Classification Performance:</a:t>
            </a:r>
          </a:p>
          <a:p>
            <a:pPr>
              <a:defRPr sz="1800"/>
            </a:pPr>
            <a:r>
              <a:t>• Accuracy: 100.00%</a:t>
            </a:r>
          </a:p>
          <a:p>
            <a:pPr>
              <a:defRPr sz="1800"/>
            </a:pPr>
            <a:r>
              <a:t>• Precision: 100.00% (zero false positives)</a:t>
            </a:r>
          </a:p>
          <a:p>
            <a:pPr>
              <a:defRPr sz="1800"/>
            </a:pPr>
            <a:r>
              <a:t>• Recall: 100.00% (zero false negatives)</a:t>
            </a:r>
          </a:p>
          <a:p>
            <a:pPr>
              <a:defRPr sz="1800"/>
            </a:pPr>
            <a:r>
              <a:t>• F1-Score: 100.00%</a:t>
            </a:r>
          </a:p>
          <a:p>
            <a:pPr>
              <a:defRPr sz="1800"/>
            </a:pPr>
            <a:r>
              <a:t>• ROC-AUC: 1.0000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High-Value Fraud Detection: 100% (&gt;$5,000)</a:t>
            </a:r>
          </a:p>
          <a:p>
            <a:pPr>
              <a:defRPr sz="1800"/>
            </a:pPr>
            <a:r>
              <a:t>Processing Speed: 400-600 transactions/second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Web Application Interface</a:t>
            </a:r>
          </a:p>
        </p:txBody>
      </p:sp>
      <p:pic>
        <p:nvPicPr>
          <p:cNvPr id="4" name="Picture 3" descr="figure_8_web_application_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8561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Interactive visualizations with pie charts, bar charts, and detailed statistics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Confusion Matrix - Test Set (1,000 transactions)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773548"/>
              </p:ext>
            </p:extLst>
          </p:nvPr>
        </p:nvGraphicFramePr>
        <p:xfrm>
          <a:off x="457200" y="1371600"/>
          <a:ext cx="8229600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 lang="en-IN" dirty="0"/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IN"/>
                        <a:t>Predicted Normal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IN"/>
                        <a:t>Predicted Fraud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IN"/>
                        <a:t>Actual Normal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IN"/>
                        <a:t>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IN"/>
                        <a:t>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IN"/>
                        <a:t>Actual Fraud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IN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IN" dirty="0"/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2F12EB8-0565-42EB-A20B-A4E2DF78C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5839" y="2773680"/>
            <a:ext cx="3600641" cy="322773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✓ Achieved perfect classification (100% accuracy)</a:t>
            </a:r>
          </a:p>
          <a:p>
            <a:pPr>
              <a:defRPr sz="1800"/>
            </a:pPr>
            <a:r>
              <a:t>✓ Zero false positives - no customer inconvenience</a:t>
            </a:r>
          </a:p>
          <a:p>
            <a:pPr>
              <a:defRPr sz="1800"/>
            </a:pPr>
            <a:r>
              <a:t>✓ Zero false negatives - maximum fraud protection</a:t>
            </a:r>
          </a:p>
          <a:p>
            <a:pPr>
              <a:defRPr sz="1800"/>
            </a:pPr>
            <a:r>
              <a:t>✓ Real-time processing capability (400-600 txn/sec)</a:t>
            </a:r>
          </a:p>
          <a:p>
            <a:pPr>
              <a:defRPr sz="1800"/>
            </a:pPr>
            <a:r>
              <a:t>✓ Production-ready web application with Flask</a:t>
            </a:r>
          </a:p>
          <a:p>
            <a:pPr>
              <a:defRPr sz="1800"/>
            </a:pPr>
            <a:r>
              <a:t>✓ Explainable predictions with feature importance</a:t>
            </a:r>
          </a:p>
          <a:p>
            <a:pPr>
              <a:defRPr sz="1800"/>
            </a:pPr>
            <a:r>
              <a:t>✓ Robust generalization across different fraud ratios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774</Words>
  <Application>Microsoft Office PowerPoint</Application>
  <PresentationFormat>On-screen Show (4:3)</PresentationFormat>
  <Paragraphs>171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Fraud Detection using Big Data Analytics in Banking</vt:lpstr>
      <vt:lpstr>Agenda</vt:lpstr>
      <vt:lpstr>Introduction</vt:lpstr>
      <vt:lpstr>Problem Statement</vt:lpstr>
      <vt:lpstr>PowerPoint Presentation</vt:lpstr>
      <vt:lpstr>System Architecture</vt:lpstr>
      <vt:lpstr>PowerPoint Presentation</vt:lpstr>
      <vt:lpstr>Dataset Description</vt:lpstr>
      <vt:lpstr>PowerPoint Presentation</vt:lpstr>
      <vt:lpstr>Model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Results</vt:lpstr>
      <vt:lpstr>PowerPoint Presentation</vt:lpstr>
      <vt:lpstr>PowerPoint Presentation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GOWTHAM NACHU</cp:lastModifiedBy>
  <cp:revision>2</cp:revision>
  <dcterms:created xsi:type="dcterms:W3CDTF">2013-01-27T09:14:16Z</dcterms:created>
  <dcterms:modified xsi:type="dcterms:W3CDTF">2025-11-03T11:10:59Z</dcterms:modified>
  <cp:category/>
</cp:coreProperties>
</file>